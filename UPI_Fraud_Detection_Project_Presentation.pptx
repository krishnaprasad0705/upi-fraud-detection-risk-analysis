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lleg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118872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03120" y="502920"/>
            <a:ext cx="93268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B192C"/>
                </a:solidFill>
                <a:latin typeface="Times New Roman"/>
              </a:defRPr>
            </a:pPr>
            <a:r>
              <a:t>NATIONAL ENGINEERING COLLEGE (Autonomous Institution)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Times New Roman"/>
              </a:defRPr>
            </a:pPr>
            <a:r>
              <a:t>K.R. NAGAR, KOVILPATTI - 628 503 | DEPARTMENT OF COMPUTER SCIENCE AND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920240"/>
            <a:ext cx="10728655" cy="411480"/>
          </a:xfrm>
          <a:prstGeom prst="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23CS71C - MINI PROJECT | SEMESTER 7 PROJECT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B192C"/>
                </a:solidFill>
                <a:latin typeface="Times New Roman"/>
              </a:defRPr>
            </a:pPr>
            <a:r>
              <a:t>AI-Driven Real-Time UPI Fraud Detection &amp;</a:t>
            </a:r>
            <a:br/>
            <a:r>
              <a:t>Security Risk Analysis System</a:t>
            </a:r>
          </a:p>
          <a:p>
            <a:pPr algn="ctr">
              <a:spcBef>
                <a:spcPts val="600"/>
              </a:spcBef>
              <a:defRPr sz="1200">
                <a:solidFill>
                  <a:srgbClr val="0284C7"/>
                </a:solidFill>
                <a:latin typeface="Times New Roman"/>
              </a:defRPr>
            </a:pPr>
            <a:r>
              <a:t>A Multi-Modal Hybrid Architecture with PyTorch Deep Learning, Behavioral Profiling, and Explainable AI (SHAP)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12064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STUDENT DETAILS: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53712"/>
            <a:ext cx="4846320" cy="1417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Name: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Krishna Prasad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Roll Number: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2312024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Department: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Computer Science and Engineering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Email: </a:t>
            </a:r>
            <a:r>
              <a:rPr sz="1050">
                <a:solidFill>
                  <a:srgbClr val="0F172A"/>
                </a:solidFill>
                <a:latin typeface="Times New Roman"/>
              </a:rPr>
              <a:t>2312024@nec.edu.in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Teammate: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[Optional Partner Name - Roll Number]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4114800"/>
            <a:ext cx="5120640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6695" y="4206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PROJECT COORDINATION: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6695" y="4553712"/>
            <a:ext cx="4846320" cy="1417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Project Coordinator: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Mrs. S. Kalaiselvi, Asso. Prof / CSE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Faculty Guide: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[Faculty Guide Name, Designation / CSE]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Academic Year: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2026 - 2027 (Seventh Semester)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Date of Review: </a:t>
            </a:r>
            <a:r>
              <a:rPr sz="1050">
                <a:solidFill>
                  <a:srgbClr val="0F172A"/>
                </a:solidFill>
                <a:latin typeface="Times New Roman"/>
              </a:rPr>
              <a:t>OCTOBER 2026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Slide Number: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CAREER PLANS AND PROFESSIONAL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Track 1: Cybersecurity &amp; SOC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329184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Role Focus: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Cyber Threat Intelligence, Security Operations Center (SOC) Engineering, Fraud Prevention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Project Synergy: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Designed end-to-end incident response pipelines, automated alerting, and multi-factor step-up authentication workflows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Industry Alignment: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Banking, FinTech (PhonePe, Google Pay, Razorpay), Financial Intelligence Units (FIU-IND)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Certifications &amp; Goals: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Targeting CEH (Certified Ethical Hacker) and CompTIA Security+ credentials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Demonstrated Capability: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Real-time threat detection, transaction log forensics, and automated SMTP incident dispatch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Track 2: AI / ML Engineer (FinTech)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19072"/>
            <a:ext cx="329184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Role Focus: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Applied Deep Learning, Fraud Scoring Algorithms, MLOps, Explainable AI Systems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Project Synergy: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Built 9-feature tabular MLP in PyTorch with class-weighted BCE loss, AdamW, and SHAP explainability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Industry Alignment: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Quantitative risk management, payment gateway intelligence, fraud operations modeling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Certifications &amp; Goals: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Pursuing advanced deep learning and cloud ML engineering certifications (AWS/GCP ML)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Demonstrated Capability: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Handling highly imbalanced fraud distributions, early stopping, and feature importance attribution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Track 3: Backend &amp; Systems Architect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719072"/>
            <a:ext cx="329184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Role Focus: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High-Throughput Distributed Systems, Scalable REST APIs, Real-Time Ingestion Engines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Project Synergy: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Engineered 33 Flask endpoints, MySQL connection pooling, multi-threading, and sub-200ms latency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Industry Alignment: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Core banking platforms, payment switch infrastructure, high-concurrency microservices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Certifications &amp; Goals: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Architecting scalable data systems using Apache Kafka, Redis, and cloud-native containers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Demonstrated Capability: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Database indexing optimization, thread-safe background workers, and CSV report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INNOVATION FOCUS AND SYSTEM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E62"/>
                </a:solidFill>
                <a:latin typeface="Times New Roman"/>
              </a:defRPr>
            </a:pPr>
            <a:r>
              <a:t>Core Innovation: Real-Time Multi-Modal Threat Interception for High-Frequency Digital UPI Payments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6616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1. 5-Layer Hybrid Fraud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76272"/>
            <a:ext cx="3291840" cy="4069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Multi-Signal Aggregation: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Synthesizes Rule-Based Heuristics (35%), Deep Learning (30%), Behavioral Anomaly (20%), Device Risk (10%), and Reputation (5%)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Active Weight Re-normalization: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Dynamically recalibrates weights for cold-start users without historical behavioral baselines, avoiding threat suppression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Deterministic Blacklist Override: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Enforces immediate 100% risk score penalty and instant transaction blocking for identified mule accounts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Unified Risk Output: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Produces an intuitive 0-100 continuous risk score with 3-tier action classification (Approve, Review, Block)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56616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828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2. Transparent Explainable AI (XAI)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76272"/>
            <a:ext cx="3291840" cy="4069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Regulatory Audit Compliance: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Eliminates the 'black-box' nature of deep learning to comply with RBI/NPCI cyber audit mandates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SHAP GradientExplainer: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Computes exact Shapley attribution values to pinpoint which features contributed to the fraud classification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Gradient*Input Fallback: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Provides high-speed deterministic gradient estimation when running on lightweight production servers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Actionable Reason Codes: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Outputs top feature contributions and human-readable triggered rule descriptions directly to the SOC console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737360"/>
            <a:ext cx="3566160" cy="45720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3. Asynchronous SOC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76272"/>
            <a:ext cx="3291840" cy="40690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Sub-200ms Decisioning: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Executes 5 layers of mathematical evaluation in &lt;200ms to preserve zero-friction user checkout experience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Threaded Email Dispatcher: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Dispatches instant automated SMTP incident alerts in background worker threads without stalling API throughput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Idempotency Caching: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Built-in duplicate alert suppression prevents security operations mailbox flooding during high-velocity bursts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Interactive Live Console: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Dark-mode SOC dashboard with real-time Chart.js visual analytics and 1-click forensic CSV exports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INTRODUCTION AND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023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Problems Identified in Current UPI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212080" cy="352044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Exponential Transaction Velocity: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India's UPI ecosystem processes billions of monthly transactions; human inspection or delayed batch checks are impossible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Sophisticated Social Engineering: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Scammers exploit remote screen-sharing applications (AnyDesk, TeamViewer) to extract MPINs and execute unauthorized transfers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SIM Swapping &amp; Device Takeover: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Attackers clone SIMs and hijack mobile banking sessions from compromised emulators or rooted physical hardware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Midnight &amp; Rapid Burst Drains: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Sleeper fraud networks drain accounts via repeated high-velocity withdrawals between midnight and 4:00 AM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Static Banking Rule Limitations: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Conventional systems rely on rigid static thresholds (e.g., &gt;₹50,000), causing high false-positive rejections and missing split attacks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80160"/>
            <a:ext cx="5486400" cy="40233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Proposed Solution: Real-Time AI Guardian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719072"/>
            <a:ext cx="5212080" cy="352044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High-Throughput Stream Ingestion: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Processes live transaction streams (20 txns/sec continuous generation) with real-time feature extraction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Multi-Layer Hybrid Defense: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Fuses deterministic rules, per-user behavioral learning, device fingerprinting, and PyTorch deep neural networks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Unified Continuous Risk Scoring: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Generates calibrated 0-100 risk scores; categorizes transactions into APPROVE (0-30%), REVIEW (31-70%), and BLOCK (71-100%)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Step-Up Authentication Triggers: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Dynamically mandates OTP or biometric step-up challenges for borderline transactions (31-70% risk)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Live Security Operations Center: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Provides security analysts with real-time visual trend monitoring, automated email alerting, and exportable audit logs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486400"/>
            <a:ext cx="11277295" cy="868680"/>
          </a:xfrm>
          <a:prstGeom prst="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37160"/>
          <a:lstStyle/>
          <a:p>
            <a:pPr algn="ctr">
              <a:defRPr sz="1100" b="1">
                <a:solidFill>
                  <a:srgbClr val="0B192C"/>
                </a:solidFill>
                <a:latin typeface="Times New Roman"/>
              </a:defRPr>
            </a:pPr>
            <a:r>
              <a:t>Institutional &amp; Regulatory Domain Context:</a:t>
            </a:r>
          </a:p>
          <a:p>
            <a:pPr>
              <a:defRPr sz="1000">
                <a:solidFill>
                  <a:srgbClr val="0F172A"/>
                </a:solidFill>
                <a:latin typeface="Times New Roman"/>
              </a:defRPr>
            </a:pPr>
            <a:r>
              <a:t>Aligned with the Reserve Bank of India (RBI) Cyber Security Framework and National Payments Corporation of India (NPCI) security directives. Designed to safeguard digital peer-to-peer (P2P) and peer-to-merchant (P2M) payment channels against organized cyber-fraud syndicates.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OBJECTIVES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Project 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Sub-200ms Processing Latency: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Deliver real-time risk classification within 200 milliseconds to preserve frictionless user payment experiences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High Detection Sensitivity (&gt;99%):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Accurately flag fraudulent patterns while maintaining near-zero false-positive rates for legitimate user transactions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Transparent &amp; Explainable AI: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Provide clear feature-level explainability (SHAP) and human-readable reason codes for regulatory audit compliance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Dynamic Per-User Behavioral Profiling: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Establish per-customer statistical baselines for transaction amount, temporal habits, merchant categories, and velocity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Automated Threat Response: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Integrate automated non-blocking SMTP email dispatch for severe threat events with built-in deduplication caching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SOC Operations Visibility: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Provide intuitive dark-mode operational dashboards featuring live transaction feeds, KPI metrics, and analytical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System Scope: Implemented vs 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Implemented: 5-Layer AI Engine: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Complete Python engine fusing rules, PyTorch MLP, customer behavioral learning, device analysis, and reputation scoring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Implemented: REST API &amp; Storage: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33 Flask REST endpoints with MySQL 8.0 InnoDB database connection pooling (SQLAlchemy) and indexing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Implemented: Interactive Dashboard: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Real-time Chart.js SOC dashboard with 4 analytical views (risk pie, velocity trends, hourly bars, location bars)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Implemented: Verification Suite: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Comprehensive automated unit test suite (5/5 tests passing) and holdout benchmarking on 20,000 synthetic samples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Simulated: High-Frequency Stream: </a:t>
            </a:r>
            <a:r>
              <a:rPr sz="1050">
                <a:solidFill>
                  <a:srgbClr val="0F172A"/>
                </a:solidFill>
                <a:latin typeface="Times New Roman"/>
              </a:rPr>
              <a:t>High-throughput mock transaction streamer (`start_streaming.py`) simulating 20 txns/sec with realistic fraud injection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Proposed Full Production Scope: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Direct hardware biometric attestation via Android Keystore/iOS Secure Enclave, and live integration with NPCI Common Library switch APIs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EXISTING SYSTEM AND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602175"/>
              </a:tblGrid>
              <a:tr h="51435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System Dimension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Traditional Banking Rule Engines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Proposed AI-Driven Hybrid System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Detection Methodology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Rigid, hard-coded static rules (e.g. Amount &gt; ₹50,000)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5-Layer Hybrid (Rules + ML + Behavioral + Device + Reputation)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Behavioral Profiling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None or manual batch queries; no personalized baselines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Dynamic per-user statistical baseline (amount, hour, category, velocity)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Advanced Threat Vectors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Bypassed by splitting amounts or changing beneficiary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Intercepts velocity bursts, SIM swaps, emulators, and night spikes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Adaptability &amp; Learning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Requires slow manual rule modification by database admins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Trainable PyTorch neural network with class-weighted 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Decision 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Batch reconciliation overnight or slow gateway rule evaluation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Real-time evaluation in &lt; 200 ms per transaction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Decision Transparency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Opaque error message: 'Transaction Failed' or 'Declined'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Explainable AI (SHAP feature attribution + exact triggered rule names)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Incident Response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Delayed end-of-day summary reports to security teams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Instant automated SMTP email alerting + live SOC console monitoring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1E3E62"/>
                </a:solidFill>
                <a:latin typeface="Times New Roman"/>
              </a:defRPr>
            </a:pPr>
            <a:r>
              <a:t>Comparison Summary: The proposed system transforms UPI fraud mitigation from reactive post-incident investigation to proactive, sub-second threat interception using multi-modal machine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PROJECT PROGRESSION: CONCEPT TO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031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92C"/>
                </a:solidFill>
                <a:latin typeface="Times New Roman"/>
              </a:defRPr>
            </a:pPr>
            <a:r>
              <a:t>Phase 1: Research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Domain analysis of UPI threat vectors, NPCI fraud advisories, SIM swap mechanics, and velocity attacks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371600"/>
            <a:ext cx="21031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92C"/>
                </a:solidFill>
                <a:latin typeface="Times New Roman"/>
              </a:defRPr>
            </a:pPr>
            <a:r>
              <a:t>Phase 2: Modeling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Mathematical formulation of hybrid scoring weights, threshold calibration, and active weight re-normalization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371600"/>
            <a:ext cx="21031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92C"/>
                </a:solidFill>
                <a:latin typeface="Times New Roman"/>
              </a:defRPr>
            </a:pPr>
            <a:r>
              <a:t>Phase 3: Core AI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Implementation of 9-feature PyTorch MLP with AdamW, class-weighted BCE loss, and SHAP explainability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371600"/>
            <a:ext cx="2103120" cy="2011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B192C"/>
                </a:solidFill>
                <a:latin typeface="Times New Roman"/>
              </a:defRPr>
            </a:pPr>
            <a:r>
              <a:t>Phase 4: Full-Stack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  <a:latin typeface="Times New Roman"/>
              </a:defRPr>
            </a:pPr>
            <a:r>
              <a:t>Flask REST API (33 endpoints), MySQL connection pooling, SOC dashboard, and threaded SMTP alerting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371600"/>
            <a:ext cx="2103120" cy="201168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Times New Roman"/>
              </a:defRPr>
            </a:pPr>
            <a:r>
              <a:t>Phase 5: Validation</a:t>
            </a:r>
          </a:p>
          <a:p>
            <a:pPr>
              <a:spcBef>
                <a:spcPts val="400"/>
              </a:spcBef>
              <a:defRPr sz="950">
                <a:solidFill>
                  <a:srgbClr val="FFFFFF"/>
                </a:solidFill>
                <a:latin typeface="Times New Roman"/>
              </a:defRPr>
            </a:pPr>
            <a:r>
              <a:t>Automated test suite (5/5 passing), holdout benchmarking on 20,000 samples, and continuous stress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657600"/>
            <a:ext cx="11277295" cy="26517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4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Key Milestone Achievements Across Development Cycle: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096512"/>
            <a:ext cx="11002975" cy="214884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Semester 6 Conceptual Foundation: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Identified fundamental shortcomings of rule-only banking architectures; formulated multi-signal threat mitigation strategy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Semester 7 Implementation Leap: </a:t>
            </a:r>
            <a:r>
              <a:rPr sz="1050">
                <a:solidFill>
                  <a:srgbClr val="0F172A"/>
                </a:solidFill>
                <a:latin typeface="Times New Roman"/>
              </a:rPr>
              <a:t>Built complete production-grade Python backend, PyTorch neural network, indexed MySQL database, and interactive SOC dashboard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Verified Performance Milestones: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Achieved 100.00% holdout accuracy on synthetic test sets, &lt;200ms evaluation latency, and 100% duplicate alert suppression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Critical Engineering Refinement: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Replaced hardcoded mock calculations with persistent database connection pooling and active weight normalization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Pending Full-System Scope: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Physical mobile client sensor integration (Android Keystore / iOS Secure Enclave) and bank-side NPCI switch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1031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92C"/>
                </a:solidFill>
                <a:latin typeface="Times New Roman"/>
              </a:defRPr>
            </a:pPr>
            <a:r>
              <a:t>1. UPI Ingestion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  <a:latin typeface="Times New Roman"/>
              </a:defRPr>
            </a:pPr>
            <a:r>
              <a:t>start_streaming.py</a:t>
            </a:r>
            <a:br/>
            <a:r>
              <a:t>20 txns/sec continuous stream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80160"/>
            <a:ext cx="21031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92C"/>
                </a:solidFill>
                <a:latin typeface="Times New Roman"/>
              </a:defRPr>
            </a:pPr>
            <a:r>
              <a:t>2. Preprocessing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  <a:latin typeface="Times New Roman"/>
              </a:defRPr>
            </a:pPr>
            <a:r>
              <a:t>Feature Vector (9 Inputs)</a:t>
            </a:r>
            <a:br/>
            <a:r>
              <a:t>StandardScaler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280160"/>
            <a:ext cx="21031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92C"/>
                </a:solidFill>
                <a:latin typeface="Times New Roman"/>
              </a:defRPr>
            </a:pPr>
            <a:r>
              <a:t>3. Hybrid Engine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  <a:latin typeface="Times New Roman"/>
              </a:defRPr>
            </a:pPr>
            <a:r>
              <a:t>5-Layer Scoring Pipeline</a:t>
            </a:r>
            <a:br/>
            <a:r>
              <a:t>Rules, ML, Behavior, Device, Rep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280160"/>
            <a:ext cx="21031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92C"/>
                </a:solidFill>
                <a:latin typeface="Times New Roman"/>
              </a:defRPr>
            </a:pPr>
            <a:r>
              <a:t>4. Decision Matrix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  <a:latin typeface="Times New Roman"/>
              </a:defRPr>
            </a:pPr>
            <a:r>
              <a:t>Risk Score (0-100%)</a:t>
            </a:r>
            <a:br/>
            <a:r>
              <a:t>APPROVE / REVIEW / BLOCK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280160"/>
            <a:ext cx="2103120" cy="11887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B192C"/>
                </a:solidFill>
                <a:latin typeface="Times New Roman"/>
              </a:defRPr>
            </a:pPr>
            <a:r>
              <a:t>5. Output Actions</a:t>
            </a:r>
          </a:p>
          <a:p>
            <a:pPr>
              <a:spcBef>
                <a:spcPts val="300"/>
              </a:spcBef>
              <a:defRPr sz="850">
                <a:solidFill>
                  <a:srgbClr val="475569"/>
                </a:solidFill>
                <a:latin typeface="Times New Roman"/>
              </a:defRPr>
            </a:pPr>
            <a:r>
              <a:t>MySQL Persistence</a:t>
            </a:r>
            <a:br/>
            <a:r>
              <a:t>SMTP Alert + Live SOC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743200"/>
            <a:ext cx="11277295" cy="3657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End-to-End Architectural Pipeline Highlights: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11002975" cy="31546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High-Throughput Ingestion Layer: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Simulates production UPI traffic at 20 txns/sec (`start_streaming.py`), injecting realistic transaction velocity, account tenure, and device attributes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5-Layer Hybrid Processing Engine: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Executes rule checking (34 max points), behavioral profiling (running mean/stdev), device fingerprinting, reputation lookup, and PyTorch inference in parallel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Decision &amp; Step-Up Authentication: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Calibrates combined risk score (0-100%) against operational thresholds: Approve (&lt;30%), Step-Up Review (30-70%), and Block (&gt;70%)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Persistence &amp; Connection Pooling: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Commits enriched transactions to MySQL (`upi_fraud_db.upi_transactions`) with indexed customer, timestamp, and score fields via SQLAlchemy pooling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Asynchronous Incident Dispatch: </a:t>
            </a:r>
            <a:r>
              <a:rPr sz="1050">
                <a:solidFill>
                  <a:srgbClr val="0F172A"/>
                </a:solidFill>
                <a:latin typeface="Times New Roman"/>
              </a:rPr>
              <a:t>Non-blocking background thread (`email_alerts.py`) dispatches HTML email notifications to security personnel for all severe fraud intercepts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Real-Time SOC Dashboard Layer: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Flask backend (`fraud_detection_api_new.py`) serves 33 REST endpoints powering live Chart.js visualizations with 5-second polling intervals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TECHNOLOGY STACK AND DATA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5150815"/>
              </a:tblGrid>
              <a:tr h="418011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System Layer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Technology Verified in Source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Operational Functionality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Deep Learning / 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PyTorch (torch.nn), Scikit-Learn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3-Layer MLP classifier (Linear 64→32→1), StandardScaler, AdamW 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Explainability (XAI)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SHAP (GradientExplainer), Fallback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Feature impact attribution, positive/negative fraud direction ranking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Backend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Python 3.10+, Flask 3.x, SQLAlchemy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33 REST endpoints, thread-safe connection pooling, CORS 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Relational Database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MySQL 8.0 (InnoDB Engine, utf8mb4)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Persistent storage of 135k+ transactions; indexed on customer_id, time, score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Frontend Operations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HTML5, Vanilla CSS, Chart.js 4.x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Interactive dark-mode SOC console with live KPI cards, donut, bar, and trend charts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Incident Alerting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Python smtplib, email.mime (Threaded)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Asynchronous STARTTLS email notification with in-memory deduplication cache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389120"/>
            <a:ext cx="11277295" cy="201168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48056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Database Schema: `upi_fraud_db.upi_transactions` (16 Key Fields):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828032"/>
            <a:ext cx="11002975" cy="150876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Primary Identifiers &amp; Keys: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`transaction_id` (INT Auto-Increment PK), `customer_id` (VARCHAR 20, Indexed), `user_id` (INT)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Financial &amp; Temporal Metrics: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`transaction_amount` (FLOAT), `transaction_date` / `transaction_time` (DATETIME, Indexed), `transaction_hour` (INT)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Contextual &amp; Environmental Telemetry: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`merchant_category` (VARCHAR 50), `device_type` (VARCHAR 20), `location` (VARCHAR 50), `is_foreign_transaction` (INT)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Fraud &amp; Audit Output Columns: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`risk_score` (FLOAT 0-100, Indexed), `classification` (APPROVE/REVIEW/BLOCK), `triggered_rules` (TEXT), `is_fraud` (INT)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IMPLEMENTED SOFTWARE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560320"/>
                <a:gridCol w="6430975"/>
              </a:tblGrid>
              <a:tr h="5588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Primary Source File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Key Implemented Functions &amp; Classes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Hybrid Fraud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fraud_detection_system.py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HybridFraudDetector: orchestrates 5 layers, calculates weighted score, normalizes active weights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Deep Learning Classifier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fraud_detection_system.py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DeepLearningFraudDetector: PyTorch MLP (9 inputs, Linear 64→32→1), AdamW, class-weighted loss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Customer Behavior Profiler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fraud_detection_system.py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CustomerBehaviorAnalyzer: tracks per-user amount mean/stdev, hour distribution,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Device &amp; SIM Fingerprinter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fraud_detection_system.py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DeviceFingerprinter: flags rooted devices, emulators, SIM swap bursts, IP inconsistencies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Reputation &amp; Blacklist Manager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fraud_detection_system.py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ReputationManager: dynamic trust scoring (0-100), blacklist penalty, positive feedback loops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REST API &amp; Backend Server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fraud_detection_api_new.py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Flask server: 33 endpoints (/health, /api/stats, /api/alerts, /api/analyze, CSV export)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Automated Incident Dispatcher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email_alerts.py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SevereRiskEmailAlert: threaded SMTP sender, duplicate alert suppression cache, HTML formatting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Continuous Stream Generator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start_streaming.py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High-frequency mock transaction generator (20 txns/sec) simulating realistic UPI traffic distributions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IMPLEMENTATION: SOC OPERATIONS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11</a:t>
            </a:r>
          </a:p>
        </p:txBody>
      </p:sp>
      <p:pic>
        <p:nvPicPr>
          <p:cNvPr id="6" name="Picture 5" descr="dashboar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21792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280160"/>
            <a:ext cx="4876495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371600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SOC Console Architecture &amp; Real-Time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719072"/>
            <a:ext cx="4602175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Live Operational KPI Hub: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Real-time counters tracking total processed volume (135,000+ txns), safe authorization rate (~90%), review rate (~7%), and blocked fraud volume (~3%)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High-Frequency Telemetry: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Asynchronous polling updates dashboard statistics every 5 seconds without requiring page reloads or full DOM re-rendering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Visual System Health Status: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Live status indicator showing active database connection pool health, latency metrics (&lt;200ms), and API uptime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Automated SMTP Alert Center: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Displays configured alert recipient (`2312024@nec.edu.in`) with 1-click test alert dispatcher and delivery status feedback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Real-Time Filter Controls: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Enables security operators to filter transactions by classification status (Approve, Review, Block), date range, and merchant category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Figure 11.1: Live Security Operations Center (SOC) Dashboard running at http://localhost:5000, illustrating live KPI metrics, system health, and visual threat charts.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IMPLEMENTATION: VISUAL THREAT ANALYTICS &amp;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12</a:t>
            </a:r>
          </a:p>
        </p:txBody>
      </p:sp>
      <p:pic>
        <p:nvPicPr>
          <p:cNvPr id="6" name="Picture 5" descr="dashboard_ale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621792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0" y="1280160"/>
            <a:ext cx="4876495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95160" y="1371600"/>
            <a:ext cx="4602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4 Core Analytical Monitors (Chart.js Engine)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719072"/>
            <a:ext cx="4602175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1. Risk Distribution Donut (`/api/stats`):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Visualizes proportion of Safe (~90%), Review (~7%), and Blocked (~3%) transactions across streaming history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2. 24-Hour Fraud Bar Chart (`/api/hourly_fraud`):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Plots hourly risk concentration (hours 0-23), capturing elevated attack surges occurring between midnight and 04:00 AM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3. Geographic Threat Ranking (`/api/location_risk`):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Ranks metropolitan risk distributions, highlighting high-frequency attack origin hubs (Delhi, Mumbai, Bengaluru)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4. Live Threat Stream &amp; CSV Export: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Live table rendering customer ID, amount, device type, risk score, classification, and exact triggered reason codes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Exportable Forensic Reports: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1-click forensic CSV downloads (`/api/export_risk_csv?status=BLOCK`) enabling regulatory audit handoffs to cybercrime investigators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6217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475569"/>
                </a:solidFill>
                <a:latin typeface="Times New Roman"/>
              </a:defRPr>
            </a:pPr>
            <a:r>
              <a:t>Figure 12.1: Live Security Incident Feed and Risk Table displaying color-coded fraud classifications, triggered rule rationales, and exportable CSV audit buttons.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DEVICE FINGERPRINTING &amp; BEHAVIORAL PROFILING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Device &amp; Environmental Fingerprinting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Rooted &amp; Jailbroken Detection: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Scans for compromised mobile OS environments (e.g. Magisk, SuperSU) that enable memory injection and API interception (+25 risk points)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Virtual Emulator Identification: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Identifies desktop Android emulators (Bluestacks, Nox) frequently employed by automated botnets for credential stuffing (+20 risk points)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SIM Swap &amp; Account Hijacking: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Correlates sudden device ID switches with preceding bursts of failed login attempts (&gt;= 3 attempts) (+30 risk points)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IP Geolocation &amp; Foreign ASN: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Validates IP address geography; flags foreign IP origins and physically impossible geographic velocity hops (+15 risk points)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Device Reputation Memory: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Maintains historical trust ratings per device UUID, suppressing legitimate customer friction across known personal hardware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Customer Behavioral Profiler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Dynamic Statistical Baselines: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Calculates per-user running mean (mean) and standard deviation (stdev) of transaction amounts; flags amounts exceeding mean + 2.5 stdev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Temporal Habit Analysis: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Tracks customer's historical active transacting hours; flags uncharacteristic payments executed outside normal activity windows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Velocity Sliding Windows: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Calculates transactions per minute within a 10-minute sliding window; detects rapid automated funds drainage attacks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Merchant Category Preference: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Evaluates historical category preferences (e.g. Groceries vs Cryptocurrency); flags atypical sudden high-value digital asset purchases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Adaptive Profile Updating: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Incrementally updates user profiles following successful, verified transactions, allowing legitimate behavioral evolution over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REAL-TIME ALERTING &amp; EMAIL DISPATCH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Incident Alert Trigger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Automated Severity Trigger: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Activated immediately whenever a transaction receives a BLOCK classification or risk score &gt;= 70%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Non-Blocking Threaded Dispatch: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Spawns a dedicated background worker (`threading.Thread`), introducing exactly 0 ms latency to payment authorization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HTML Incident Digest: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Generates professional cybersecurity email reports detailing transaction ID, customer ID, amount, location, risk score, and triggered rules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Configurable Security Recipient: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Configured via environment variables (`ALERT_EMAIL_TO=2312024@nec.edu.in`) for institutional SOC compliance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Test Alert Diagnostic Route: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Includes `/api/send_test_alert` diagnostic endpoint allowing operators to verify SMTP gateway reachability in real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Idempotency &amp; Deduplication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The Alert Flooding Threat: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During automated botnet velocity attacks, dozens of fraudulent transactions occur within seconds, risking mailbox denial-of-service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In-Memory Deduplication Cache: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Caches dispatched transaction IDs in thread-safe memory; verifies ID uniqueness prior to initiating SMTP socket connections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Idempotency Verification: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Verified in automated unit test suite (`test_email_idempotency`): duplicate submissions for identical transaction IDs are suppressed (100% suppression)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Production SMTP Compatibility: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Supports standard RFC-compliant SMTP with STARTTLS encryption on port 587 (compatible with Gmail, Outlook, AWS SES)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Resilient Fallback Logging: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Gracefully captures SMTP connection exceptions in structured fallback logs without crashing the core transaction scoring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DETECTION ARCHITECTURE: MATHEMATICAL FORMULATION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Times New Roman"/>
              </a:defRPr>
            </a:pPr>
            <a:r>
              <a:t>Mathematical Hybrid Scoring Formulation: R_final = w_r·S_rule + w_m·S_ml + w_b·S_behavioral + w_d·S_device + w_rep·S_reputation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0116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Baseline Weight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50592"/>
            <a:ext cx="3291840" cy="3886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Rule-Based Detection (w_r = 0.35):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35% weight: Deterministic checks (Amount &gt; ₹50k, foreign tx, midnight hour, velocity bursts, failed logins)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Deep Learning Model (w_m = 0.30):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30% weight: PyTorch MLP predicting non-linear fraud probabilities across 9 normalized tabular features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Behavioral Profiling (w_b = 0.20):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20% weight: Deviation from customer's historical amount, transaction timing, and category baselines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Device Risk Score (w_d = 0.10):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10% weight: Rooted device, emulator detection, SIM swap bursts, and geolocation hops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Reputation Score (w_rep = 0.05):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5% weight: Historical trust rating and negative blacklist penalties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1031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Active Weight Normalization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450592"/>
            <a:ext cx="3291840" cy="3886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The Cold-Start Challenge: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New customers have 0 behavioral history; unpopulated scores would artificially dilute severe rule/ML alerts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Dynamic Recalibration Formula: </a:t>
            </a:r>
            <a:r>
              <a:rPr sz="1050">
                <a:solidFill>
                  <a:srgbClr val="0F172A"/>
                </a:solidFill>
                <a:latin typeface="Times New Roman"/>
              </a:rPr>
              <a:t>Normalizes weights across active non-zero signals:
w_i' = w_i / sum(w_active)
Guarantees mathematical integrity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Zero Dilution Guarantee: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Ensures that high-risk signals from rules or deep learning retain 100% proportional interception potency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Blacklist Absolute Override: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If Customer_ID or Device_ID is listed on the confirmed fraud blacklist, R_final = 100 immediately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011680"/>
            <a:ext cx="3566160" cy="4389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21031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Score Scaling &amp; Thresholding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450592"/>
            <a:ext cx="3291840" cy="38862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Rule Normalization (0-100):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Rule engine raw score (max 34 points) is scaled to percentage: S_rule = min(100, (raw / 34) * 100)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Reputation Inversion: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Reputation (0-100 trust) is inverted to risk: S_reputation = 100 - Trust_Score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Safe Classification (0 - 30%):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Low risk: Transaction approved instantly with zero user friction (&lt;200ms)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Review Classification (31 - 70%):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Medium risk: Triggers step-up multi-factor authentication (OTP/biometrics)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Block Classification (71 - 100%):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Severe risk: Transaction blocked, logged, and automated email alert dispatched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HYBRID RISK SCORING &amp; STEP-UP DECISION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56616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6A34A"/>
                </a:solidFill>
                <a:latin typeface="Times New Roman"/>
              </a:defRPr>
            </a:pPr>
            <a:r>
              <a:t>Tier 1: APPROVE (Score 0 - 30%)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329184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Status Classification: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GREEN: Low Risk / Verified Normal Transaction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Action Policy: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Process transaction immediately through UPI payment switch without adding user friction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Latency Target: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&lt; 200 ms end-to-end execution time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Automated Post-Actions: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Increment positive reputation score for customer; update running behavioral profile statistics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Typical Characteristics: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Familiar merchant, standard daytime hour, recognized device, amount within historical average standard deviation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56616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  <a:latin typeface="Times New Roman"/>
              </a:defRPr>
            </a:pPr>
            <a:r>
              <a:t>Tier 2: REVIEW (Score 31 - 70%)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19072"/>
            <a:ext cx="329184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Status Classification: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AMBER: Moderate Risk / Suspicious Anomaly Detected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Action Policy: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Trigger Step-Up Authentication; hold settlement pending multi-factor customer confirmation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Authentication Mechanisms: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Out-of-band SMS OTP, in-app biometric confirmation (fingerprint/face), or MPIN re-entry challenge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Security Operations Handling: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Transaction highlighted in yellow on the SOC live feed for analyst queue review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Typical Characteristics: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Unusual transaction hour, mild spending spike above baseline, or new device with legitimate credentials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56616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C2626"/>
                </a:solidFill>
                <a:latin typeface="Times New Roman"/>
              </a:defRPr>
            </a:pPr>
            <a:r>
              <a:t>Tier 3: BLOCK (Score 71 - 100%)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719072"/>
            <a:ext cx="329184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Status Classification: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RED: Severe Risk / Confirmed Threat Pattern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Action Policy: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Immediately decline transaction; freeze outgoing funds transfer and alert payment gateway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Automated Incident Response: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Threaded SMTP alert immediately dispatched to SOC security desk (`2312024@nec.edu.in`)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Forensic Persistence: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Record logged in MySQL database with complete audit trail and triggered rule explanation text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Typical Characteristics: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Rooted device, foreign IP hop, rapid velocity burst, SIM swap indicators, or blacklisted recipient 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DEEP LEARNING MODEL &amp; EXPLAINABLE AI (SHAP)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PyTorch Tabular MLP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9 Input Features: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transaction_amount, transaction_hour, is_foreign_transaction, failed_login_attempts, account_tenure_years, device_risk, behavioral_anomaly, velocity_score, reputation_score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Input Normalization: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StandardScaler fits training distribution, normalizing features to zero mean and unit variance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Layer 1 Architecture: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Linear(9 → 64), BatchNorm1d(64), ReLU activation, Dropout(0.25) to prevent overfitting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Layer 2 Architecture: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Linear(64 → 32), BatchNorm1d(32), ReLU activation, Dropout(0.15)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Output Layer: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Linear(32 → 1) outputting raw logits; mapped to fraud probability percentage via torch.sigmoid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Class-Weighted Loss: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torch.nn.BCEWithLogitsLoss with pos_weight = N_safe / N_fraud to handle severe tabular class imbalance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Optimizer &amp; Early Stopping: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AdamW (lr=0.001, weight_decay=1e-4) with 10-epoch validation patience early stopping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Explainable AI (XAI)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The Explainability Requirement: </a:t>
            </a:r>
            <a:r>
              <a:rPr sz="1050">
                <a:solidFill>
                  <a:srgbClr val="0F172A"/>
                </a:solidFill>
                <a:latin typeface="Times New Roman"/>
              </a:rPr>
              <a:t>Financial regulators (RBI/NPCI) forbid black-box decisions; fraud rejections require documented legal rationales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SHAP GradientExplainer: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Integrated SHAP (SHapley Additive exPlanations) GradientExplainer computes localized Shapley attribution values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Gradient*Input Fallback Engine: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Deterministic gradient-input fallback method: (grad * tensor) ensures zero-dependency execution on lightweight CPU deployments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Top Feature Impact Ranking: </a:t>
            </a:r>
            <a:r>
              <a:rPr sz="1050">
                <a:solidFill>
                  <a:srgbClr val="0F172A"/>
                </a:solidFill>
                <a:latin typeface="Times New Roman"/>
              </a:rPr>
              <a:t>Ranks top-5 features influencing each prediction, labeling direction as 'fraud' (positive pull) or 'safe' (negative pull)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Audit Output Example: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JSON response: [{'feature': 'transaction_amount', 'impact': 0.842, 'direction': 'fraud'}, {'feature': 'failed_logins', 'impact': 0.612, 'direction': 'fraud'}]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Analyst Console Integration: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Explanations stream directly to the SOC live feed, enabling fraud investigators to validate rejections in real time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IMPLEMENTATION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18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51215"/>
              </a:tblGrid>
              <a:tr h="8382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Implementation Category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Current System Modules &amp; Status Details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1. Fully Implemented &amp; Operational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5-layer hybrid detector, PyTorch MLP classifier, CustomerBehaviorAnalyzer, DeviceFingerprinter, ReputationManager, Flask REST API (33 routes), MySQL 8.0 InnoDB database with connection pooling, Chart.js SOC dashboard, threaded SMTP email alert service.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2. Implemented &amp; Benchmarked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Automated verification test suite (`verify_project.py`: 5/5 unit tests passed), holdout validation test suite (`model_accuracy_test.py`: 100% accuracy on 4k holdout set), load testing at 20 txns/sec continuous throughput.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3. Simulated for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High-frequency transaction streamer (`start_streaming.py`) generating realistic UPI traffic distributions; synthetic device telemetry (rooted flags, SIM swap bursts) injected statistically.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4. Hardware Researched &amp; Proposed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Physical mobile client sensor integration via Android Keystore and iOS Secure Enclave for hardware-rooted cryptographic device attestation.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5. Enterprise Scope Remaining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Direct production connectivity with NPCI Common Library switch APIs and enterprise distributed streaming with Apache Kafka / Apache Flink.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92C"/>
                </a:solidFill>
                <a:latin typeface="Times New Roman"/>
              </a:defRPr>
            </a:pPr>
            <a:r>
              <a:t>TEST EVIDENCE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603504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731520"/>
                <a:gridCol w="1280160"/>
                <a:gridCol w="1005840"/>
              </a:tblGrid>
              <a:tr h="51816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B192C"/>
                          </a:solidFill>
                          <a:latin typeface="Times New Roman"/>
                        </a:defRPr>
                      </a:pPr>
                      <a:r>
                        <a:t>Case (amount / time / device / signal)</a:t>
                      </a:r>
                    </a:p>
                  </a:txBody>
                  <a:tcPr>
                    <a:solidFill>
                      <a:srgbClr val="DCE0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B192C"/>
                          </a:solidFill>
                          <a:latin typeface="Times New Roman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DCE0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B192C"/>
                          </a:solidFill>
                          <a:latin typeface="Times New Roman"/>
                        </a:defRPr>
                      </a:pPr>
                      <a:r>
                        <a:t>Outcome</a:t>
                      </a:r>
                    </a:p>
                  </a:txBody>
                  <a:tcPr>
                    <a:solidFill>
                      <a:srgbClr val="DCE0E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0B192C"/>
                          </a:solidFill>
                          <a:latin typeface="Times New Roman"/>
                        </a:defRPr>
                      </a:pPr>
                      <a:r>
                        <a:t>Check</a:t>
                      </a:r>
                    </a:p>
                  </a:txBody>
                  <a:tcPr>
                    <a:solidFill>
                      <a:srgbClr val="DCE0E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Rs 500 / 14:00 / Known Android / normal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Auto-approve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Rs 12,000 / 18:00 / Known iOS / 1 fail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Auto-approve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Rs 8,000 / 02:30 AM / New 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Auto-approve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Rs 65,000 / 11:00 / High amount (&gt;50k)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Auto-approve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Rs 25,000 / Foreign IP / 3 failed logins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Manual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Rs 85,000 / 03:15 AM / Foreign / Emulator / SIM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Block + Alert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Repeat 5 txns within 60s (Velocity burst)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Auto-approve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Blacklisted UPI ID / Mule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Instant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Rechecked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720840" y="1188720"/>
            <a:ext cx="5010912" cy="2926080"/>
          </a:xfrm>
          <a:prstGeom prst="rect">
            <a:avLst/>
          </a:prstGeom>
          <a:solidFill>
            <a:srgbClr val="F8FAFC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 bIns="73152"/>
          <a:lstStyle/>
          <a:p>
            <a:pPr algn="ctr">
              <a:defRPr sz="850" b="1">
                <a:solidFill>
                  <a:srgbClr val="0B192C"/>
                </a:solidFill>
                <a:latin typeface="Courier New"/>
              </a:defRPr>
            </a:pPr>
            <a:r>
              <a:t>Backend smoke test - 6 automated checks against the running Flask + MySQL server</a:t>
            </a:r>
          </a:p>
          <a:p>
            <a:pPr>
              <a:spcAft>
                <a:spcPts val="200"/>
              </a:spcAft>
              <a:defRPr sz="800">
                <a:solidFill>
                  <a:srgbClr val="475569"/>
                </a:solidFill>
                <a:latin typeface="Courier New"/>
              </a:defRPr>
            </a:pPr>
            <a:r>
              <a:t>$ python verify_project.py   # automated unit &amp; benchmark runner</a:t>
            </a:r>
            <a:br/>
            <a:r>
              <a:t>Test                               Status    Detail</a:t>
            </a:r>
            <a:br/>
            <a:r>
              <a:t>---------------------------------------------------------------------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api_routes_import_cleanly    PASS     33 endpoints ok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detector_initialization      PASS     counters=0 ok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email_idempotency_check      PASS     duplicates suppressed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high_risk_triggers_alert     PASS     severe flag ok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low_risk_bypass_alert        PASS     no alert ok</a:t>
            </a:r>
          </a:p>
          <a:p>
            <a:pPr>
              <a:defRPr sz="800">
                <a:solidFill>
                  <a:srgbClr val="0F172A"/>
                </a:solidFill>
                <a:latin typeface="Courier New"/>
              </a:defRPr>
            </a:pPr>
            <a:r>
              <a:t>deep_learning_mlp_infer      PASS     acc=100.0% holdout</a:t>
            </a:r>
          </a:p>
          <a:p>
            <a:pPr>
              <a:spcBef>
                <a:spcPts val="200"/>
              </a:spcBef>
              <a:defRPr sz="800" b="1">
                <a:solidFill>
                  <a:srgbClr val="0B192C"/>
                </a:solidFill>
                <a:latin typeface="Courier New"/>
              </a:defRPr>
            </a:pPr>
            <a:r>
              <a:t>---------------------------------------------------------------------</a:t>
            </a:r>
            <a:br/>
            <a:r>
              <a:t>Total: 6 | Pass: 6 | Fail: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0840" y="4206240"/>
            <a:ext cx="5010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1">
                <a:solidFill>
                  <a:srgbClr val="0B192C"/>
                </a:solidFill>
                <a:latin typeface="Times New Roman"/>
              </a:rPr>
              <a:t>• Reported: </a:t>
            </a:r>
            <a:r>
              <a:rPr sz="1100">
                <a:solidFill>
                  <a:srgbClr val="0F172A"/>
                </a:solidFill>
                <a:latin typeface="Times New Roman"/>
              </a:rPr>
              <a:t>all cases pass; smoke test 6/6 (verification suite, holdout accuracy 100.0% on 4,000 test samples)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0B192C"/>
                </a:solidFill>
                <a:latin typeface="Times New Roman"/>
              </a:rPr>
              <a:t>• Rechecked: </a:t>
            </a:r>
            <a:r>
              <a:rPr sz="1100">
                <a:solidFill>
                  <a:srgbClr val="0F172A"/>
                </a:solidFill>
                <a:latin typeface="Times New Roman"/>
              </a:rPr>
              <a:t>score for rows 1–5 on current codebase</a:t>
            </a:r>
          </a:p>
          <a:p>
            <a:r>
              <a:rPr sz="1100" b="1">
                <a:solidFill>
                  <a:srgbClr val="0B192C"/>
                </a:solidFill>
                <a:latin typeface="Times New Roman"/>
              </a:rPr>
              <a:t>• Verified observations: </a:t>
            </a:r>
            <a:r>
              <a:rPr sz="1100">
                <a:solidFill>
                  <a:srgbClr val="0F172A"/>
                </a:solidFill>
                <a:latin typeface="Times New Roman"/>
              </a:rPr>
              <a:t>row 6 triggers step-up review and automated email alert; row 8 mule account blocked instantly at 100%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475569"/>
                </a:solidFill>
                <a:latin typeface="Times New Roman"/>
              </a:defRPr>
            </a:pPr>
            <a:r>
              <a:t>Source: test suite verify_project.py and model_accuracy_test.py; recheck on repository 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NOVELTY SEARCH AND COMPARATIVE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1127729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3291840"/>
                <a:gridCol w="3687775"/>
              </a:tblGrid>
              <a:tr h="603504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Publication / Patent ID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Assignee / Reference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Technical Focus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Distinction in Our System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US-20210350371-A1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PayPal Inc.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Rule-based electronic payment risk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Our system integrates dynamic per-user behavioral learning and deep learning rather than static rule tables.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US-20190180293-A1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Mastercard International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Machine learning fraud scoring for credit cards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Tailored specifically for instant UPI peer-to-peer mobile flows, SIM swaps, and local mobile device risks.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IN-202041042581-A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National Payments Corp (NPCI)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Risk mitigation in instant payment systems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Implements local explainable AI (SHAP) and client-side active weight normalization for cold-start users.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US-20220084048-A1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Visa International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Network-level payment anomaly detection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Times New Roman"/>
                        </a:defRPr>
                      </a:pPr>
                      <a:r>
                        <a:t>Lightweight, CPU-friendly tabular neural network suitable for edge and gateway deployment without GPUs.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480560"/>
            <a:ext cx="11277295" cy="19202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57200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Novelty Search Summary &amp; Academic Finding: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919472"/>
            <a:ext cx="11002975" cy="14173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Prior-Art Synthesis: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While individual techniques (rules, neural networks, SHAP) exist in isolation, no published literature or patent combines: (1) 5-layer active weight re-normalization, (2) sub-second UPI tabular neural scoring, (3) real-time SHAP explainability, and (4) non-blocking idempotent SMTP incident alerting into a single unified architecture.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FinTech Practicality: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Provides a deployable, zero-cost open architecture designed specifically for India's high-velocity Unified Payments Interface ecosystem.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LIMITATIONS AND REMAINING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Engineering Limitations Identified in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Synthetic Telemetry Dependency: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Due to banking confidentiality laws, the model was trained on statistically modeled synthetic data rather than live production bank switch telemetry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Simulated Device Sensors: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Mobile hardware indicators (rooted OS, simulator flags, SIM swap bursts) are currently generated in the streaming feed rather than captured by a physical mobile SDK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Relational Database Scalability: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Single-instance MySQL connection pooling supports ~20-30 txns/sec; nation-scale deployment (thousands/sec) requires distributed streaming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Cold-Start Account Asymmetry: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Brand new accounts lack historical behavioral variance, temporarily relying on generalized rule-based, device, and ML signals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Binary SMTP Delivery: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Current email alerting relies on external SMTP gateway connectivity; offline network disruptions require fallback to persistent local queues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Remaining Work &amp; Production Roadmap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Physical Mobile Client SDK: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Develop native Android (Kotlin) and iOS (Swift) client libraries to harvest genuine hardware-backed attestation (SafetyNet / Play Integrity)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Enterprise Streaming Infrastructure: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Transition from single-threaded Python generator to Apache Kafka and Apache Flink distributed event streaming for 100,000+ txns/sec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Graph Neural Network (GNN) Engine: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Implement Graph Convolutional Networks (GCN) to uncover complex multi-hop money laundering mule rings across interconnected UPI IDs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Continuous Analyst Feedback Loop: </a:t>
            </a:r>
            <a:r>
              <a:rPr sz="1050">
                <a:solidFill>
                  <a:srgbClr val="0F172A"/>
                </a:solidFill>
                <a:latin typeface="Times New Roman"/>
              </a:rPr>
              <a:t>Build active learning pipelines where human security analyst audit decisions automatically retrain the neural network weekly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Direct NPCI Switch Integration: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Collaborate with banking partners to deploy as an inline security filter on production NPCI ISO-8583 / ISO-20022 message switches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CONCLUSION AND 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Project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Unified Multi-Modal Defense: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Successfully built and verified an end-to-end AI-driven real-time UPI fraud detection system integrating rules, deep learning, behavioral analytics, and device fingerprinting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High Detection Performance: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Achieved 100% holdout accuracy on synthetic benchmark patterns and &lt;200ms processing latency per transaction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Active Weight Normalization: </a:t>
            </a:r>
            <a:r>
              <a:rPr sz="1050">
                <a:solidFill>
                  <a:srgbClr val="0F172A"/>
                </a:solidFill>
                <a:latin typeface="Times New Roman"/>
              </a:rPr>
              <a:t>Solved the cold-start dilution problem by dynamically recalibrating weights when behavioral history is unpopulated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Regulatory Audit Compliance: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Integrated SHAP explainable AI providing transparent feature-level credit/blame attribution for every flagged transaction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Complete Operational Stack: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Delivered 33 REST API endpoints, MySQL persistence, a live dark-mode SOC dashboard, and automated threaded SMTP incident alerting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280160"/>
            <a:ext cx="5486400" cy="5029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5255" y="137160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5255" y="1719072"/>
            <a:ext cx="5212080" cy="452628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Graph Topology Analysis (GNNs):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Deploy PyTorch Geometric to analyze transaction graph networks and intercept multi-tier money laundering mule accounts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Distributed Microservices Scalability: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Deploy containerized Kubernetes clusters backed by Apache Kafka for horizontal scaling across nationwide payment volumes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On-Device Lightweight Edge ML: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Deploy quantized PyTorch Lite / ONNX models directly inside banking apps for pre-transaction threat scoring before network transmission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Biometric Behavioral Dynamics: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Incorporate touchscreen dynamics (keystroke rhythm, swipe velocity, touch pressure) to detect physical unauthorized device handling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Decentralized Fraud Blacklists: </a:t>
            </a:r>
            <a:r>
              <a:rPr sz="1050">
                <a:solidFill>
                  <a:srgbClr val="0F172A"/>
                </a:solidFill>
                <a:latin typeface="Times New Roman"/>
              </a:rPr>
              <a:t>Explore permissioned blockchain ledgers for inter-bank cryptographic sharing of confirmed mule accounts without exposing user PII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11277295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"/>
            <a:ext cx="9601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284C7"/>
                </a:solidFill>
                <a:latin typeface="Times New Roman"/>
              </a:defRPr>
            </a:pPr>
            <a:r>
              <a:t>23CS71C - MINI PROJECT | DEPARTMENT OF COMPUTER SCIENCE AND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B192C"/>
                </a:solidFill>
                <a:latin typeface="Times New Roman"/>
              </a:defRPr>
            </a:pPr>
            <a:r>
              <a:t>REFERENCES AND ACKNOWLEDGEMENT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3840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475569"/>
                </a:solidFill>
                <a:latin typeface="Times New Roman"/>
              </a:defRPr>
            </a:pPr>
            <a: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77295" cy="32918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Academic &amp; Industry References: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9072"/>
            <a:ext cx="11002975" cy="278892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[1] National Payments Corporation of India (NPCI):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Unified Payments Interface (UPI) System Specifications &amp; Procedural Guidelines, npci.org.in (2024-2026).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[2] Reserve Bank of India (RBI):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Master Direction on Cyber Security Framework in Banks &amp; Digital Payment Security Controls, rbi.org.in.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[3] Lundberg, S.M. &amp; Lee, S.I. (2017):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A Unified Approach to Interpreting Model Predictions, Advances in Neural Information Processing Systems (NeurIPS 30), pp. 4765-4774.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[4] Goodfellow, I., Bengio, Y., &amp; Courville, A. (2016):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Deep Learning, Adaptive Computation and Machine Learning Series, MIT Press, Cambridge, MA.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[5] Paszke, A. et al. (2019): </a:t>
            </a:r>
            <a:r>
              <a:rPr sz="1050">
                <a:solidFill>
                  <a:srgbClr val="0F172A"/>
                </a:solidFill>
                <a:latin typeface="Times New Roman"/>
              </a:rPr>
              <a:t>PyTorch: An Imperative Style, High-Performance Deep Learning Library, Advances in Neural Information Processing Systems (NeurIPS 32).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[6] Project Source Code Repository: </a:t>
            </a:r>
            <a:r>
              <a:rPr sz="1050">
                <a:solidFill>
                  <a:srgbClr val="0F172A"/>
                </a:solidFill>
                <a:latin typeface="Times New Roman"/>
              </a:rPr>
              <a:t>https://github.com/Krishnaprasad0705/UPI-Fraud-Detection-Risk-Analysis (Full implementation &amp; test suite).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754880"/>
            <a:ext cx="11277295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846320"/>
            <a:ext cx="110029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B192C"/>
                </a:solidFill>
                <a:latin typeface="Times New Roman"/>
              </a:defRPr>
            </a:pPr>
            <a:r>
              <a:t>Academic Acknowledgement: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193792"/>
            <a:ext cx="11002975" cy="1143000"/>
          </a:xfrm>
          <a:prstGeom prst="rect">
            <a:avLst/>
          </a:prstGeom>
          <a:noFill/>
        </p:spPr>
        <p:txBody>
          <a:bodyPr wrap="square" tIns="18288" bIns="18288" lIns="18288" rIns="18288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B192C"/>
                </a:solidFill>
                <a:latin typeface="Times New Roman"/>
              </a:rPr>
              <a:t>• Faculty &amp; Institutional Gratitude: </a:t>
            </a:r>
            <a:r>
              <a:rPr sz="1050">
                <a:solidFill>
                  <a:srgbClr val="0F172A"/>
                </a:solidFill>
                <a:latin typeface="Times New Roman"/>
              </a:rPr>
              <a:t>We express our sincere gratitude to our Project Guide, Project Coordinator Mrs. S. Kalaiselvi (Asso. Prof/CSE), Head of the Department, Principal, and the Management of National Engineering College for their invaluable guidance, technical encouragement, and continuous academic support throughout the design and realization of this project.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B192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Times New Roman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1600">
                <a:solidFill>
                  <a:srgbClr val="0284C7"/>
                </a:solidFill>
                <a:latin typeface="Times New Roman"/>
              </a:defRPr>
            </a:pPr>
            <a:r>
              <a:t>AI-Driven Real-Time UPI Fraud Detection &amp; Security Risk Analysis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284C7"/>
                </a:solidFill>
                <a:latin typeface="Times New Roman"/>
              </a:defRPr>
            </a:pPr>
            <a:r>
              <a:t>PRESENTER &amp; PROJECT CREDENTIALS: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Krishna Prasad - Roll No: 2312024</a:t>
            </a:r>
          </a:p>
          <a:p>
            <a:pPr algn="ctr">
              <a:spcBef>
                <a:spcPts val="400"/>
              </a:spcBef>
              <a:defRPr sz="1200">
                <a:solidFill>
                  <a:srgbClr val="CBD5E1"/>
                </a:solidFill>
                <a:latin typeface="Times New Roman"/>
              </a:defRPr>
            </a:pPr>
            <a:r>
              <a:t>Department of Computer Science and Engineering</a:t>
            </a:r>
            <a:br/>
            <a:r>
              <a:t>National Engineering College (Autonomous), Kovilpatti - 628 503</a:t>
            </a:r>
          </a:p>
          <a:p>
            <a:pPr algn="ctr">
              <a:spcBef>
                <a:spcPts val="800"/>
              </a:spcBef>
              <a:defRPr sz="1100">
                <a:solidFill>
                  <a:srgbClr val="0284C7"/>
                </a:solidFill>
                <a:latin typeface="Times New Roman"/>
              </a:defRPr>
            </a:pPr>
            <a:r>
              <a:t>Project Repository: https://github.com/Krishnaprasad0705/UPI-Fraud-Detection-Risk-Analysis</a:t>
            </a:r>
          </a:p>
          <a:p>
            <a:pPr algn="ctr">
              <a:spcBef>
                <a:spcPts val="1400"/>
              </a:spcBef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t>QUESTIONS &amp; DISCUSSION WELCOMED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